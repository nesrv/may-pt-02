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1" r:id="rId2"/>
  </p:sldMasterIdLst>
  <p:notesMasterIdLst>
    <p:notesMasterId r:id="rId30"/>
  </p:notesMasterIdLst>
  <p:sldIdLst>
    <p:sldId id="431" r:id="rId3"/>
    <p:sldId id="502" r:id="rId4"/>
    <p:sldId id="508" r:id="rId5"/>
    <p:sldId id="428" r:id="rId6"/>
    <p:sldId id="332" r:id="rId7"/>
    <p:sldId id="412" r:id="rId8"/>
    <p:sldId id="418" r:id="rId9"/>
    <p:sldId id="429" r:id="rId10"/>
    <p:sldId id="417" r:id="rId11"/>
    <p:sldId id="416" r:id="rId12"/>
    <p:sldId id="318" r:id="rId13"/>
    <p:sldId id="430" r:id="rId14"/>
    <p:sldId id="506" r:id="rId15"/>
    <p:sldId id="422" r:id="rId16"/>
    <p:sldId id="423" r:id="rId17"/>
    <p:sldId id="424" r:id="rId18"/>
    <p:sldId id="425" r:id="rId19"/>
    <p:sldId id="426" r:id="rId20"/>
    <p:sldId id="510" r:id="rId21"/>
    <p:sldId id="511" r:id="rId22"/>
    <p:sldId id="512" r:id="rId23"/>
    <p:sldId id="509" r:id="rId24"/>
    <p:sldId id="503" r:id="rId25"/>
    <p:sldId id="504" r:id="rId26"/>
    <p:sldId id="257" r:id="rId27"/>
    <p:sldId id="300" r:id="rId28"/>
    <p:sldId id="363" r:id="rId29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730" autoAdjust="0"/>
  </p:normalViewPr>
  <p:slideViewPr>
    <p:cSldViewPr snapToGrid="0">
      <p:cViewPr>
        <p:scale>
          <a:sx n="150" d="100"/>
          <a:sy n="150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A0595-55A8-48ED-89D9-94EF8A79471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CE960-5D9D-430C-9D09-6E77992381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17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https</a:t>
            </a:r>
            <a:r>
              <a:rPr lang="en-US"/>
              <a:t>://www.ibm.com/developerworks/ru/library/l-python_details_03</a:t>
            </a:r>
            <a:r>
              <a:rPr lang="en-US" dirty="0"/>
              <a:t>/</a:t>
            </a:r>
          </a:p>
          <a:p>
            <a:r>
              <a:rPr lang="en-US" dirty="0"/>
              <a:t>https://habr.com/post/335866/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A294B-FE41-4427-A7F6-0AF3C028BF82}" type="slidenum">
              <a:rPr lang="ru-RU" smtClean="0"/>
              <a:pPr/>
              <a:t>26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28560" y="273960"/>
            <a:ext cx="7886520" cy="4608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2856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6992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28560" y="3073680"/>
            <a:ext cx="788652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8560" y="3073680"/>
            <a:ext cx="788652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2856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6992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95080" y="13690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5961240" y="13690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28560" y="30736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95080" y="30736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5961240" y="30736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1"/>
          </p:nvPr>
        </p:nvSpPr>
        <p:spPr>
          <a:xfrm>
            <a:off x="484188" y="1213247"/>
            <a:ext cx="8229600" cy="3375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>
          <a:xfrm>
            <a:off x="3132000" y="4798556"/>
            <a:ext cx="2880000" cy="270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Нижний 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5825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, текст, картинка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19A9089-09CF-4332-AA37-F4F21401F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52174"/>
            <a:ext cx="6796567" cy="46425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sz="2250" dirty="0"/>
              <a:t>Заголовок раздела курса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0A5A5D0F-2091-41CB-B49D-7B8F7DD5A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1093530"/>
            <a:ext cx="3849947" cy="38192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900" b="0"/>
            </a:lvl1pPr>
          </a:lstStyle>
          <a:p>
            <a:pPr marL="0" indent="0">
              <a:lnSpc>
                <a:spcPct val="120000"/>
              </a:lnSpc>
              <a:buNone/>
            </a:pPr>
            <a:r>
              <a:rPr lang="ru-RU" sz="1350" dirty="0"/>
              <a:t>Курс готовит экспертов по </a:t>
            </a:r>
            <a:r>
              <a:rPr lang="ru-RU" sz="1350" b="1" dirty="0"/>
              <a:t>Битрикс24</a:t>
            </a:r>
            <a:r>
              <a:rPr lang="ru-RU" sz="1350" dirty="0"/>
              <a:t>, которые в дальнейшем смогут заниматься самостоятельно внедрением и поддержкой продукта в компаниях.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350" dirty="0"/>
              <a:t>Для компаний, внедривших или готовящихся внедрять </a:t>
            </a:r>
            <a:r>
              <a:rPr lang="ru-RU" sz="1350" b="1" dirty="0"/>
              <a:t>Битрикс24,</a:t>
            </a:r>
            <a:r>
              <a:rPr lang="ru-RU" sz="1350" dirty="0"/>
              <a:t> курс является альтернативой привлечения сторонних интеграторов </a:t>
            </a:r>
            <a:r>
              <a:rPr lang="ru-RU" sz="1350" b="1" dirty="0"/>
              <a:t>Битрикс24</a:t>
            </a:r>
            <a:r>
              <a:rPr lang="ru-RU" sz="1350" dirty="0"/>
              <a:t>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350" dirty="0"/>
              <a:t>Курс готовит экспертов по </a:t>
            </a:r>
            <a:r>
              <a:rPr lang="ru-RU" sz="1350" b="1" dirty="0"/>
              <a:t>Битрикс24</a:t>
            </a:r>
            <a:r>
              <a:rPr lang="ru-RU" sz="1350" dirty="0"/>
              <a:t>, которые в дальнейшем смогут заниматься самостоятельно внедрением и поддержкой продукта в компаниях.</a:t>
            </a:r>
          </a:p>
        </p:txBody>
      </p:sp>
      <p:sp>
        <p:nvSpPr>
          <p:cNvPr id="15" name="Рисунок 8">
            <a:extLst>
              <a:ext uri="{FF2B5EF4-FFF2-40B4-BE49-F238E27FC236}">
                <a16:creationId xmlns:a16="http://schemas.microsoft.com/office/drawing/2014/main" id="{757A936C-DED9-4A02-AF8D-1EBD78E4FF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18215" y="1093530"/>
            <a:ext cx="3424844" cy="38192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5428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52174"/>
            <a:ext cx="6796567" cy="93968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50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291856"/>
            <a:ext cx="6447501" cy="3239166"/>
          </a:xfrm>
          <a:prstGeom prst="rect">
            <a:avLst/>
          </a:prstGeom>
        </p:spPr>
        <p:txBody>
          <a:bodyPr/>
          <a:lstStyle>
            <a:lvl1pPr marL="257175" indent="-257175">
              <a:lnSpc>
                <a:spcPct val="110000"/>
              </a:lnSpc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500" b="0"/>
            </a:lvl1pPr>
            <a:lvl2pPr marL="557213" indent="-214313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2pPr>
            <a:lvl3pPr marL="857250" indent="-17145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3pPr>
            <a:lvl4pPr marL="1200150" indent="-17145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4pPr>
            <a:lvl5pPr marL="1543050" indent="-17145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0743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5A6DC10-EF66-4F0E-8206-F25E5DF7F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52174"/>
            <a:ext cx="6796567" cy="93968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50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F4D986-E3F5-40FA-A342-31C859248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1" y="1291856"/>
            <a:ext cx="6447501" cy="3239166"/>
          </a:xfrm>
          <a:prstGeom prst="rect">
            <a:avLst/>
          </a:prstGeom>
        </p:spPr>
        <p:txBody>
          <a:bodyPr/>
          <a:lstStyle>
            <a:lvl1pPr marL="257175" indent="-257175">
              <a:lnSpc>
                <a:spcPct val="110000"/>
              </a:lnSpc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500" b="0"/>
            </a:lvl1pPr>
            <a:lvl2pPr marL="557213" indent="-214313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2pPr>
            <a:lvl3pPr marL="857250" indent="-17145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3pPr>
            <a:lvl4pPr marL="1200150" indent="-17145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4pPr>
            <a:lvl5pPr marL="1543050" indent="-17145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7049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0536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83227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2224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21591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87289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28560" y="273960"/>
            <a:ext cx="7886520" cy="4608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90429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2856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36814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6992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32192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28560" y="3073680"/>
            <a:ext cx="788652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16368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8560" y="3073680"/>
            <a:ext cx="788652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09359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2856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6992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07400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95080" y="13690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5961240" y="13690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28560" y="30736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95080" y="30736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5961240" y="30736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13113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1"/>
          </p:nvPr>
        </p:nvSpPr>
        <p:spPr>
          <a:xfrm>
            <a:off x="484188" y="1213247"/>
            <a:ext cx="8229600" cy="3375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>
          <a:xfrm>
            <a:off x="3132000" y="4798556"/>
            <a:ext cx="2880000" cy="270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Нижний 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81978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468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33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360" indent="-1710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514440" lvl="1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857160" lvl="2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200240" lvl="3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1542960" lvl="4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05EF2BE1-C6B1-44D9-AC14-847FE245C45E}" type="slidenum">
              <a:rPr lang="en-US" sz="9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900" b="0" strike="noStrike" spc="-1">
              <a:latin typeface="Times New Roman"/>
            </a:endParaRPr>
          </a:p>
        </p:txBody>
      </p:sp>
      <p:sp>
        <p:nvSpPr>
          <p:cNvPr id="5" name="CustomShape 6"/>
          <p:cNvSpPr/>
          <p:nvPr/>
        </p:nvSpPr>
        <p:spPr>
          <a:xfrm>
            <a:off x="7131240" y="4137840"/>
            <a:ext cx="1726560" cy="766080"/>
          </a:xfrm>
          <a:custGeom>
            <a:avLst/>
            <a:gdLst/>
            <a:ahLst/>
            <a:cxnLst/>
            <a:rect l="l" t="t" r="r" b="b"/>
            <a:pathLst>
              <a:path w="3983913" h="1593565">
                <a:moveTo>
                  <a:pt x="0" y="0"/>
                </a:moveTo>
                <a:lnTo>
                  <a:pt x="3983912" y="0"/>
                </a:lnTo>
                <a:lnTo>
                  <a:pt x="3983912" y="1593565"/>
                </a:lnTo>
                <a:lnTo>
                  <a:pt x="0" y="15935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8"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7"/>
          <p:cNvSpPr/>
          <p:nvPr/>
        </p:nvSpPr>
        <p:spPr>
          <a:xfrm rot="19974000">
            <a:off x="5218560" y="-2323800"/>
            <a:ext cx="4931640" cy="4028040"/>
          </a:xfrm>
          <a:custGeom>
            <a:avLst/>
            <a:gdLst/>
            <a:ahLst/>
            <a:cxnLst/>
            <a:rect l="l" t="t" r="r" b="b"/>
            <a:pathLst>
              <a:path w="9495369" h="7717145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alphaModFix amt="50000"/>
            </a:blip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  <p:sldLayoutId id="2147483677" r:id="rId14"/>
    <p:sldLayoutId id="2147483678" r:id="rId15"/>
    <p:sldLayoutId id="214748367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33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360" indent="-1710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514427" lvl="1" indent="-170996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857138" lvl="2" indent="-170996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200210" lvl="3" indent="-170996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1542922" lvl="4" indent="-170996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tabLst>
                <a:tab pos="0" algn="l"/>
              </a:tabLst>
            </a:pPr>
            <a:fld id="{05EF2BE1-C6B1-44D9-AC14-847FE245C45E}" type="slidenum">
              <a:rPr lang="en-US" sz="900" spc="-1" smtClean="0">
                <a:solidFill>
                  <a:srgbClr val="8B8B8B"/>
                </a:solidFill>
                <a:latin typeface="Calibri"/>
              </a:rPr>
              <a:pPr algn="r">
                <a:tabLst>
                  <a:tab pos="0" algn="l"/>
                </a:tabLst>
              </a:pPr>
              <a:t>‹#›</a:t>
            </a:fld>
            <a:endParaRPr lang="ru-RU" sz="900" spc="-1">
              <a:latin typeface="Times New Roman"/>
            </a:endParaRPr>
          </a:p>
        </p:txBody>
      </p:sp>
      <p:sp>
        <p:nvSpPr>
          <p:cNvPr id="5" name="CustomShape 6"/>
          <p:cNvSpPr/>
          <p:nvPr/>
        </p:nvSpPr>
        <p:spPr>
          <a:xfrm>
            <a:off x="7131240" y="4137840"/>
            <a:ext cx="1726560" cy="766080"/>
          </a:xfrm>
          <a:custGeom>
            <a:avLst/>
            <a:gdLst/>
            <a:ahLst/>
            <a:cxnLst/>
            <a:rect l="l" t="t" r="r" b="b"/>
            <a:pathLst>
              <a:path w="3983913" h="1593565">
                <a:moveTo>
                  <a:pt x="0" y="0"/>
                </a:moveTo>
                <a:lnTo>
                  <a:pt x="3983912" y="0"/>
                </a:lnTo>
                <a:lnTo>
                  <a:pt x="3983912" y="1593565"/>
                </a:lnTo>
                <a:lnTo>
                  <a:pt x="0" y="15935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6"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7"/>
          <p:cNvSpPr/>
          <p:nvPr/>
        </p:nvSpPr>
        <p:spPr>
          <a:xfrm rot="19974000">
            <a:off x="5218560" y="-2323800"/>
            <a:ext cx="4931640" cy="4028040"/>
          </a:xfrm>
          <a:custGeom>
            <a:avLst/>
            <a:gdLst/>
            <a:ahLst/>
            <a:cxnLst/>
            <a:rect l="l" t="t" r="r" b="b"/>
            <a:pathLst>
              <a:path w="9495369" h="7717145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alphaModFix amt="50000"/>
            </a:blip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241844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20" indent="-128250" algn="l" defTabSz="914378" rtl="0" eaLnBrk="1" latinLnBrk="0" hangingPunct="1">
        <a:lnSpc>
          <a:spcPct val="90000"/>
        </a:lnSpc>
        <a:spcBef>
          <a:spcPts val="563"/>
        </a:spcBef>
        <a:buClr>
          <a:srgbClr val="000000"/>
        </a:buClr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4.sv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python/" TargetMode="External"/><Relationship Id="rId2" Type="http://schemas.openxmlformats.org/officeDocument/2006/relationships/hyperlink" Target="https://docs.python.org/3/" TargetMode="Externa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stepik.org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66A48D-163B-A54A-E70E-AF9BF3D7CCD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68923" y="1757514"/>
            <a:ext cx="7886520" cy="993960"/>
          </a:xfrm>
        </p:spPr>
        <p:txBody>
          <a:bodyPr/>
          <a:lstStyle/>
          <a:p>
            <a:pPr algn="ctr"/>
            <a:b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sz="48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Программирование </a:t>
            </a:r>
            <a:endParaRPr lang="en-US" sz="4800" b="1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48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языке Python</a:t>
            </a:r>
            <a:endParaRPr lang="en-US" sz="4800" b="1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dirty="0"/>
              <a:t>Уровень 2. </a:t>
            </a:r>
            <a:endParaRPr lang="en-US" dirty="0"/>
          </a:p>
          <a:p>
            <a:pPr algn="ctr"/>
            <a:r>
              <a:rPr lang="ru-RU" dirty="0"/>
              <a:t>Продвинутый курс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6 BT" panose="02040804060705020204" pitchFamily="18" charset="0"/>
              <a:cs typeface="Segoe UI Light" panose="020B0502040204020203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B9901B-6F31-42BD-8097-0B6D9FA8D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93" y="172624"/>
            <a:ext cx="1391909" cy="139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47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204;p32">
            <a:extLst>
              <a:ext uri="{FF2B5EF4-FFF2-40B4-BE49-F238E27FC236}">
                <a16:creationId xmlns:a16="http://schemas.microsoft.com/office/drawing/2014/main" id="{6FECBBB2-6E89-4343-9F12-27706CBB9B22}"/>
              </a:ext>
            </a:extLst>
          </p:cNvPr>
          <p:cNvSpPr txBox="1">
            <a:spLocks/>
          </p:cNvSpPr>
          <p:nvPr/>
        </p:nvSpPr>
        <p:spPr>
          <a:xfrm>
            <a:off x="10894740" y="5317831"/>
            <a:ext cx="7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kern="12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kern="12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kern="12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kern="12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kern="12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kern="12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kern="12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kern="12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kern="12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fld id="{00000000-1234-1234-1234-123412341234}" type="slidenum">
              <a:rPr kumimoji="0" lang="ru" sz="1467" b="0" i="0" u="none" strike="noStrike" kern="0" cap="none" spc="0" normalizeH="0" baseline="0" noProof="0" smtClean="0">
                <a:ln>
                  <a:noFill/>
                </a:ln>
                <a:solidFill>
                  <a:srgbClr val="004777"/>
                </a:solidFill>
                <a:effectLst/>
                <a:uLnTx/>
                <a:uFillTx/>
                <a:sym typeface="Open San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t>2</a:t>
            </a:fld>
            <a:endParaRPr kumimoji="0" lang="ru" sz="1467" b="0" i="0" u="none" strike="noStrike" kern="0" cap="none" spc="0" normalizeH="0" baseline="0" noProof="0">
              <a:ln>
                <a:noFill/>
              </a:ln>
              <a:solidFill>
                <a:srgbClr val="004777"/>
              </a:solidFill>
              <a:effectLst/>
              <a:uLnTx/>
              <a:uFillTx/>
              <a:sym typeface="Open Sans"/>
            </a:endParaRPr>
          </a:p>
        </p:txBody>
      </p:sp>
      <p:sp>
        <p:nvSpPr>
          <p:cNvPr id="17" name="Объект 3">
            <a:extLst>
              <a:ext uri="{FF2B5EF4-FFF2-40B4-BE49-F238E27FC236}">
                <a16:creationId xmlns:a16="http://schemas.microsoft.com/office/drawing/2014/main" id="{86D4FF60-8D43-41A0-91C5-7B66B35A6F89}"/>
              </a:ext>
            </a:extLst>
          </p:cNvPr>
          <p:cNvSpPr txBox="1">
            <a:spLocks/>
          </p:cNvSpPr>
          <p:nvPr/>
        </p:nvSpPr>
        <p:spPr>
          <a:xfrm>
            <a:off x="2571595" y="520060"/>
            <a:ext cx="6572405" cy="71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Open Sans"/>
              <a:buChar char="•"/>
              <a:defRPr sz="15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Open Sans"/>
              <a:buChar char="•"/>
              <a:defRPr sz="12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•"/>
              <a:defRPr sz="11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•"/>
              <a:defRPr sz="11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•"/>
              <a:defRPr sz="11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609585" indent="-474121" defTabSz="1219170">
              <a:spcBef>
                <a:spcPts val="1067"/>
              </a:spcBef>
              <a:buSzPct val="130000"/>
              <a:buFont typeface="Open Sans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1600" kern="0" dirty="0">
                <a:solidFill>
                  <a:srgbClr val="C00000"/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Кандидат технических наук, доцент РТУ МИРЭА</a:t>
            </a:r>
            <a:r>
              <a:rPr lang="en-US" sz="1600" kern="0" dirty="0">
                <a:solidFill>
                  <a:srgbClr val="C00000"/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, </a:t>
            </a:r>
            <a:r>
              <a:rPr lang="ru-RU" sz="1600" kern="0" dirty="0">
                <a:solidFill>
                  <a:srgbClr val="C00000"/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Политех, </a:t>
            </a:r>
            <a:r>
              <a:rPr lang="ru-RU" sz="1600" kern="0" dirty="0" err="1">
                <a:solidFill>
                  <a:srgbClr val="C00000"/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Бауманский</a:t>
            </a:r>
            <a:r>
              <a:rPr lang="ru-RU" sz="1600" kern="0" dirty="0">
                <a:solidFill>
                  <a:srgbClr val="C00000"/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 учебный центр Специалист</a:t>
            </a:r>
            <a:endParaRPr lang="en-US" sz="1600" kern="0" dirty="0">
              <a:solidFill>
                <a:srgbClr val="C00000"/>
              </a:solidFill>
              <a:latin typeface="Yandex Sans Text Light" panose="02000000000000000000" pitchFamily="2" charset="-52"/>
              <a:ea typeface="Open Sans" pitchFamily="2" charset="0"/>
              <a:cs typeface="Open Sans" pitchFamily="2" charset="0"/>
            </a:endParaRPr>
          </a:p>
          <a:p>
            <a:pPr marL="609585" indent="-474121" defTabSz="1219170">
              <a:spcBef>
                <a:spcPts val="1067"/>
              </a:spcBef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1600" kern="0" dirty="0">
                <a:solidFill>
                  <a:srgbClr val="0000FF"/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Делаю бэкенд и строю архитектуру </a:t>
            </a:r>
            <a:r>
              <a:rPr lang="en-US" sz="1600" kern="0" dirty="0" err="1">
                <a:solidFill>
                  <a:srgbClr val="0000FF"/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Fastapi</a:t>
            </a:r>
            <a:r>
              <a:rPr lang="en-US" sz="1600" kern="0" dirty="0">
                <a:solidFill>
                  <a:srgbClr val="0000FF"/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 / Django / MQ / PostgreSQL</a:t>
            </a:r>
          </a:p>
          <a:p>
            <a:pPr marL="609585" indent="-474121" defTabSz="1219170">
              <a:spcBef>
                <a:spcPts val="1067"/>
              </a:spcBef>
              <a:buSzPct val="130000"/>
              <a:buFont typeface="Open Sans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ru-RU" sz="1600" kern="0" dirty="0">
              <a:solidFill>
                <a:srgbClr val="C00000"/>
              </a:solidFill>
              <a:latin typeface="Yandex Sans Text Light" panose="02000000000000000000" pitchFamily="2" charset="-52"/>
              <a:ea typeface="Open Sans" pitchFamily="2" charset="0"/>
              <a:cs typeface="Open Sans" pitchFamily="2" charset="0"/>
            </a:endParaRPr>
          </a:p>
          <a:p>
            <a:pPr marL="609585" indent="-474121" defTabSz="1219170">
              <a:spcBef>
                <a:spcPts val="1067"/>
              </a:spcBef>
              <a:buSzPct val="130000"/>
              <a:buFont typeface="Open Sans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ru-RU" sz="1600" kern="0" dirty="0">
              <a:solidFill>
                <a:srgbClr val="C00000"/>
              </a:solidFill>
              <a:latin typeface="Yandex Sans Text Light" panose="02000000000000000000" pitchFamily="2" charset="-52"/>
              <a:ea typeface="Open Sans" pitchFamily="2" charset="0"/>
              <a:cs typeface="Open Sans" pitchFamily="2" charset="0"/>
            </a:endParaRPr>
          </a:p>
          <a:p>
            <a:pPr marL="135463" indent="0" defTabSz="1219170">
              <a:spcBef>
                <a:spcPts val="1067"/>
              </a:spcBef>
              <a:buSzPct val="130000"/>
              <a:buFont typeface="Open Sans"/>
              <a:buNone/>
            </a:pPr>
            <a:endParaRPr lang="ru-RU" sz="1600" kern="0" dirty="0">
              <a:solidFill>
                <a:srgbClr val="05386C"/>
              </a:solidFill>
              <a:latin typeface="Yandex Sans Text Light" panose="02000000000000000000" pitchFamily="2" charset="-52"/>
              <a:ea typeface="Open Sans" pitchFamily="2" charset="0"/>
              <a:cs typeface="Open Sans" pitchFamily="2" charset="0"/>
            </a:endParaRPr>
          </a:p>
          <a:p>
            <a:pPr marL="609585" indent="-474121" defTabSz="1219170">
              <a:spcBef>
                <a:spcPts val="1067"/>
              </a:spcBef>
              <a:buSzPct val="130000"/>
              <a:buFont typeface="Open Sans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ru-RU" sz="1600" kern="0" dirty="0">
              <a:latin typeface="Yandex Sans Text Light" panose="02000000000000000000" pitchFamily="2" charset="-52"/>
              <a:ea typeface="Open Sans" pitchFamily="2" charset="0"/>
              <a:cs typeface="Open Sans" pitchFamily="2" charset="0"/>
            </a:endParaRPr>
          </a:p>
          <a:p>
            <a:pPr marL="0" indent="0" defTabSz="1219170">
              <a:spcBef>
                <a:spcPts val="1067"/>
              </a:spcBef>
              <a:buFont typeface="Open Sans"/>
              <a:buNone/>
            </a:pPr>
            <a:endParaRPr lang="ru-RU" sz="1600" kern="0" dirty="0">
              <a:latin typeface="Yandex Sans Text Light" panose="02000000000000000000" pitchFamily="2" charset="-52"/>
            </a:endParaRPr>
          </a:p>
          <a:p>
            <a:pPr marL="609585" indent="-474121" defTabSz="1219170">
              <a:spcBef>
                <a:spcPts val="1067"/>
              </a:spcBef>
            </a:pPr>
            <a:endParaRPr lang="ru-RU" sz="1600" kern="0" dirty="0">
              <a:latin typeface="Yandex Sans Text Light" panose="02000000000000000000" pitchFamily="2" charset="-52"/>
            </a:endParaRPr>
          </a:p>
        </p:txBody>
      </p:sp>
      <p:pic>
        <p:nvPicPr>
          <p:cNvPr id="18" name="Picture 6" descr="Qotto Logo">
            <a:extLst>
              <a:ext uri="{FF2B5EF4-FFF2-40B4-BE49-F238E27FC236}">
                <a16:creationId xmlns:a16="http://schemas.microsoft.com/office/drawing/2014/main" id="{3AA5E54A-290B-4CEE-A0F4-5ECDB74F6B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418" b="10617"/>
          <a:stretch/>
        </p:blipFill>
        <p:spPr bwMode="auto">
          <a:xfrm>
            <a:off x="320731" y="2972212"/>
            <a:ext cx="841320" cy="103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2401D22-73D4-45CD-B33F-2FCD8CF8F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8754" y="3772128"/>
            <a:ext cx="746343" cy="731416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E5C12E4-D02A-41FA-8A3E-C320DC59CD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9454" y="3393615"/>
            <a:ext cx="744221" cy="744221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C7ABA7B-0BBA-46E4-ABEB-C39D550C4753}"/>
              </a:ext>
            </a:extLst>
          </p:cNvPr>
          <p:cNvSpPr/>
          <p:nvPr/>
        </p:nvSpPr>
        <p:spPr>
          <a:xfrm>
            <a:off x="1396588" y="3244138"/>
            <a:ext cx="3604013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5386C"/>
                </a:solidFill>
                <a:cs typeface="Arial"/>
                <a:sym typeface="Arial"/>
              </a:rPr>
              <a:t>https://vektor-vremeni.ru/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E21A123-2FFB-484B-8978-DA30A67A567D}"/>
              </a:ext>
            </a:extLst>
          </p:cNvPr>
          <p:cNvSpPr/>
          <p:nvPr/>
        </p:nvSpPr>
        <p:spPr>
          <a:xfrm>
            <a:off x="3731273" y="4487136"/>
            <a:ext cx="2311387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5386C"/>
                </a:solidFill>
                <a:cs typeface="Arial"/>
                <a:sym typeface="Arial"/>
              </a:rPr>
              <a:t>https://neuronis.ru/</a:t>
            </a:r>
            <a:endParaRPr lang="ru-RU" sz="1867" kern="0" dirty="0">
              <a:solidFill>
                <a:srgbClr val="05386C"/>
              </a:solidFill>
              <a:cs typeface="Arial"/>
              <a:sym typeface="Arial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58D7E06-DA6C-42F8-8554-0E582D60E545}"/>
              </a:ext>
            </a:extLst>
          </p:cNvPr>
          <p:cNvSpPr/>
          <p:nvPr/>
        </p:nvSpPr>
        <p:spPr>
          <a:xfrm>
            <a:off x="-26190" y="4137836"/>
            <a:ext cx="2674425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5386C"/>
                </a:solidFill>
                <a:cs typeface="Arial"/>
                <a:sym typeface="Arial"/>
              </a:rPr>
              <a:t>https://www.qotto.net/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A36C075-FE89-495F-A89F-D14B67F92C8E}"/>
              </a:ext>
            </a:extLst>
          </p:cNvPr>
          <p:cNvSpPr/>
          <p:nvPr/>
        </p:nvSpPr>
        <p:spPr>
          <a:xfrm>
            <a:off x="5899445" y="2726209"/>
            <a:ext cx="3244555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5386C"/>
                </a:solidFill>
                <a:latin typeface="Arial"/>
                <a:cs typeface="Arial"/>
                <a:sym typeface="Arial"/>
              </a:rPr>
              <a:t>https://programism.ru/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468EE8D-B06B-4A86-B4E6-DB3B5472DE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8033" y="3340043"/>
            <a:ext cx="873033" cy="864169"/>
          </a:xfrm>
          <a:prstGeom prst="rect">
            <a:avLst/>
          </a:prstGeom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B4FC392-EDCF-4705-A454-D51746745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031" y="365018"/>
            <a:ext cx="1443347" cy="1924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924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Организационные </a:t>
            </a:r>
            <a:b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моменты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type="subTitle"/>
          </p:nvPr>
        </p:nvSpPr>
        <p:spPr>
          <a:xfrm>
            <a:off x="312345" y="1400830"/>
            <a:ext cx="8311081" cy="3263040"/>
          </a:xfrm>
        </p:spPr>
        <p:txBody>
          <a:bodyPr numCol="2">
            <a:noAutofit/>
          </a:bodyPr>
          <a:lstStyle/>
          <a:p>
            <a:r>
              <a:rPr lang="ru-RU" sz="2000" i="1" u="sng" dirty="0">
                <a:latin typeface="Segoe UI Light" panose="020B0502040204020203" pitchFamily="34" charset="0"/>
                <a:cs typeface="Segoe UI Light" panose="020B0502040204020203" pitchFamily="34" charset="0"/>
              </a:rPr>
              <a:t>Правила совместной работы:</a:t>
            </a:r>
            <a:endParaRPr lang="ru-RU" sz="2000" dirty="0">
              <a:solidFill>
                <a:srgbClr val="0070C0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ru-RU" sz="2000" dirty="0">
                <a:solidFill>
                  <a:srgbClr val="86AA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 </a:t>
            </a:r>
            <a: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Вопросы преподавателю</a:t>
            </a:r>
            <a:b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sz="2000" dirty="0">
                <a:solidFill>
                  <a:srgbClr val="86AA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 </a:t>
            </a:r>
            <a: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Правило поднятой руки</a:t>
            </a:r>
            <a:b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sz="2000" dirty="0">
                <a:solidFill>
                  <a:srgbClr val="86AA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 </a:t>
            </a:r>
            <a: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Уважение к мнению других участников</a:t>
            </a:r>
            <a:b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endParaRPr lang="ru-RU" sz="2000" dirty="0">
              <a:solidFill>
                <a:srgbClr val="2D2D2A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b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sz="2000" dirty="0">
                <a:solidFill>
                  <a:srgbClr val="FF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 </a:t>
            </a:r>
            <a:r>
              <a:rPr lang="ru-RU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Мобильные телефоны</a:t>
            </a:r>
            <a:b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sz="2000" dirty="0">
                <a:solidFill>
                  <a:srgbClr val="FF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 </a:t>
            </a:r>
            <a: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Опоздания</a:t>
            </a:r>
            <a:b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sz="2000" dirty="0">
                <a:solidFill>
                  <a:srgbClr val="FF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 </a:t>
            </a:r>
            <a: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Приватные обсуждения</a:t>
            </a:r>
          </a:p>
          <a:p>
            <a:endParaRPr lang="ru-RU" sz="2000" dirty="0">
              <a:solidFill>
                <a:srgbClr val="2D2D2A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ru-RU" sz="2000" dirty="0">
              <a:solidFill>
                <a:srgbClr val="2D2D2A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lvl="0"/>
            <a:endParaRPr lang="en-US" sz="1800" i="1" u="sng" dirty="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lvl="0"/>
            <a:r>
              <a:rPr lang="ru-RU" sz="1800" i="1" u="sng" dirty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Давайте знакомиться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Имя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Грейд</a:t>
            </a:r>
          </a:p>
          <a:p>
            <a:pPr lvl="0"/>
            <a:r>
              <a:rPr lang="en-US" sz="135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(</a:t>
            </a:r>
            <a:r>
              <a:rPr lang="ru-RU" sz="135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пример</a:t>
            </a:r>
            <a:r>
              <a:rPr lang="en-US" sz="135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  <a:r>
              <a:rPr lang="ru-RU" sz="135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35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C#</a:t>
            </a:r>
            <a:r>
              <a:rPr lang="ru-RU" sz="135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базовый уровень, базы данных </a:t>
            </a:r>
            <a:r>
              <a:rPr lang="en-US" sz="135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(Oracle, </a:t>
            </a:r>
            <a:r>
              <a:rPr lang="en-US" sz="1350" dirty="0" err="1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Pg</a:t>
            </a:r>
            <a:r>
              <a:rPr lang="en-US" sz="135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) </a:t>
            </a:r>
            <a:r>
              <a:rPr lang="ru-RU" sz="135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средний уровень, </a:t>
            </a:r>
            <a:r>
              <a:rPr lang="en-US" sz="135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JS – </a:t>
            </a:r>
            <a:r>
              <a:rPr lang="ru-RU" sz="135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нач. уровень и </a:t>
            </a:r>
            <a:r>
              <a:rPr lang="ru-RU" sz="1350" dirty="0" err="1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тд</a:t>
            </a:r>
            <a:r>
              <a:rPr lang="ru-RU" sz="135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) </a:t>
            </a:r>
            <a:endParaRPr lang="ru-RU" sz="2000" dirty="0">
              <a:solidFill>
                <a:srgbClr val="0000FF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lvl="0"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Должность </a:t>
            </a:r>
            <a:r>
              <a:rPr lang="ru-RU" sz="150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(пример</a:t>
            </a:r>
            <a:r>
              <a:rPr lang="en-US" sz="150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  <a:r>
              <a:rPr lang="ru-RU" sz="150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системный инженер</a:t>
            </a:r>
            <a:r>
              <a:rPr lang="en-US" sz="150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</a:t>
            </a:r>
            <a:r>
              <a:rPr lang="ru-RU" sz="150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Java-</a:t>
            </a:r>
            <a:r>
              <a:rPr lang="ru-RU" sz="150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программист</a:t>
            </a:r>
            <a:r>
              <a:rPr lang="en-US" sz="150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ru-RU" sz="1500" dirty="0" err="1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девопс</a:t>
            </a:r>
            <a:r>
              <a:rPr lang="ru-RU" sz="150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и </a:t>
            </a:r>
            <a:r>
              <a:rPr lang="ru-RU" sz="1500" dirty="0" err="1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тп</a:t>
            </a:r>
            <a:r>
              <a:rPr lang="ru-RU" sz="1500" dirty="0">
                <a:solidFill>
                  <a:srgbClr val="0000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)</a:t>
            </a:r>
            <a:endParaRPr lang="ru-RU" sz="2000" dirty="0">
              <a:solidFill>
                <a:srgbClr val="0000FF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lvl="0"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Ожидания от курса</a:t>
            </a:r>
          </a:p>
          <a:p>
            <a:endParaRPr lang="ru-RU" sz="2000" dirty="0">
              <a:solidFill>
                <a:srgbClr val="2D2D2A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ru-RU" sz="2000" dirty="0">
              <a:solidFill>
                <a:srgbClr val="2D2D2A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136919"/>
            <a:endParaRPr lang="ru-RU" sz="2000" dirty="0">
              <a:solidFill>
                <a:srgbClr val="FF0000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136919"/>
            <a:endParaRPr lang="ru-RU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400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DFFE72-A644-4C7E-B940-81ED83CC4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71" y="218359"/>
            <a:ext cx="6796567" cy="464255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Yandex Sans Text Light" panose="02000000000000000000" pitchFamily="2" charset="-52"/>
              </a:rPr>
              <a:t>Организационные вопросы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1E820E9-B1B7-4A46-B832-21CB88E5D9BA}"/>
              </a:ext>
            </a:extLst>
          </p:cNvPr>
          <p:cNvSpPr/>
          <p:nvPr/>
        </p:nvSpPr>
        <p:spPr>
          <a:xfrm>
            <a:off x="913876" y="1490257"/>
            <a:ext cx="3277589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175A9F"/>
                </a:solidFill>
                <a:latin typeface="Arial" panose="020B0604020202020204" pitchFamily="34" charset="0"/>
              </a:rPr>
              <a:t>Регламент</a:t>
            </a:r>
            <a:r>
              <a:rPr lang="en-US" sz="2800" dirty="0">
                <a:solidFill>
                  <a:srgbClr val="175A9F"/>
                </a:solidFill>
                <a:latin typeface="Arial" panose="020B0604020202020204" pitchFamily="34" charset="0"/>
              </a:rPr>
              <a:t>:</a:t>
            </a:r>
          </a:p>
          <a:p>
            <a:endParaRPr lang="en-US" sz="28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</a:rPr>
              <a:t>9</a:t>
            </a:r>
            <a:r>
              <a:rPr lang="ru-RU" sz="3200" dirty="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</a:rPr>
              <a:t>00</a:t>
            </a:r>
            <a:r>
              <a:rPr lang="ru-RU" sz="3200" dirty="0">
                <a:solidFill>
                  <a:srgbClr val="222222"/>
                </a:solidFill>
                <a:latin typeface="Arial" panose="020B0604020202020204" pitchFamily="34" charset="0"/>
              </a:rPr>
              <a:t>-1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</a:rPr>
              <a:t>2:15</a:t>
            </a:r>
          </a:p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10.30-10.45</a:t>
            </a:r>
          </a:p>
          <a:p>
            <a:endParaRPr lang="ru-RU" sz="32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A65DD5C-3C7D-4847-86B2-C90EDFF24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4970" y="154146"/>
            <a:ext cx="2274830" cy="227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5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C17ADC-B554-47CF-8A96-D022B7C8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dirty="0">
                <a:solidFill>
                  <a:schemeClr val="accent2"/>
                </a:solidFill>
                <a:latin typeface="Yandex Sans Text Light" panose="02000000000000000000" pitchFamily="2" charset="-52"/>
              </a:rPr>
              <a:t>Требуемая подготовка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576F90-4641-4D08-ABFC-A888766BC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321" y="1582928"/>
            <a:ext cx="6134440" cy="1805116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ts val="450"/>
              </a:spcBef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pPr>
            <a:r>
              <a:rPr lang="ru-RU" sz="2700" dirty="0">
                <a:solidFill>
                  <a:prstClr val="black"/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 «Уровень 1. </a:t>
            </a:r>
            <a:r>
              <a:rPr lang="en-US" sz="2700" dirty="0">
                <a:solidFill>
                  <a:prstClr val="black"/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Python </a:t>
            </a:r>
            <a:r>
              <a:rPr lang="ru-RU" sz="2700" dirty="0">
                <a:solidFill>
                  <a:prstClr val="black"/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базовый курс»</a:t>
            </a:r>
          </a:p>
          <a:p>
            <a:pPr>
              <a:lnSpc>
                <a:spcPct val="130000"/>
              </a:lnSpc>
              <a:spcBef>
                <a:spcPts val="450"/>
              </a:spcBef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pPr>
            <a:r>
              <a:rPr lang="ru-RU" sz="2700" dirty="0">
                <a:solidFill>
                  <a:prstClr val="black"/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 Эквивалентный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03011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1D2D92-C423-4411-8AD5-95D62A0B97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332" b="20870"/>
          <a:stretch/>
        </p:blipFill>
        <p:spPr>
          <a:xfrm>
            <a:off x="154906" y="1631256"/>
            <a:ext cx="7892618" cy="2519498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A81C31E-982A-461B-A836-4BD47C753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13" y="263109"/>
            <a:ext cx="6796567" cy="588088"/>
          </a:xfrm>
        </p:spPr>
        <p:txBody>
          <a:bodyPr>
            <a:normAutofit/>
          </a:bodyPr>
          <a:lstStyle/>
          <a:p>
            <a:r>
              <a:rPr lang="ru-RU" sz="2250" dirty="0">
                <a:latin typeface="Open Sans" pitchFamily="2" charset="0"/>
                <a:ea typeface="Open Sans" pitchFamily="2" charset="0"/>
                <a:cs typeface="Open Sans" pitchFamily="2" charset="0"/>
              </a:rPr>
              <a:t>Место в линейке курсов</a:t>
            </a:r>
          </a:p>
        </p:txBody>
      </p:sp>
    </p:spTree>
    <p:extLst>
      <p:ext uri="{BB962C8B-B14F-4D97-AF65-F5344CB8AC3E}">
        <p14:creationId xmlns:p14="http://schemas.microsoft.com/office/powerpoint/2010/main" val="650358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История IT. ООП — Записки преподавателя">
            <a:extLst>
              <a:ext uri="{FF2B5EF4-FFF2-40B4-BE49-F238E27FC236}">
                <a16:creationId xmlns:a16="http://schemas.microsoft.com/office/drawing/2014/main" id="{768D422A-E933-4A8F-865B-C5799836D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013" y="1172120"/>
            <a:ext cx="5127617" cy="279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06CEFFC-2B88-43E9-AAC8-849925260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115" y="4224072"/>
            <a:ext cx="2593181" cy="588088"/>
          </a:xfrm>
        </p:spPr>
        <p:txBody>
          <a:bodyPr>
            <a:normAutofit/>
          </a:bodyPr>
          <a:lstStyle/>
          <a:p>
            <a:r>
              <a:rPr lang="ru-RU" dirty="0">
                <a:latin typeface="Open Sans" pitchFamily="2" charset="0"/>
                <a:ea typeface="Open Sans" pitchFamily="2" charset="0"/>
                <a:cs typeface="Open Sans" pitchFamily="2" charset="0"/>
              </a:rPr>
              <a:t>Принципы ООП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2CACF9E-7CD0-4052-8606-1E35BB7F48A4}"/>
              </a:ext>
            </a:extLst>
          </p:cNvPr>
          <p:cNvSpPr txBox="1">
            <a:spLocks/>
          </p:cNvSpPr>
          <p:nvPr/>
        </p:nvSpPr>
        <p:spPr>
          <a:xfrm>
            <a:off x="338013" y="263109"/>
            <a:ext cx="3921567" cy="58808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b="1" kern="12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250" dirty="0">
                <a:solidFill>
                  <a:srgbClr val="0000F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ПРИОБРЕТАЕМЫЕ ЗНАНИЯ, УМЕНИЯ, НАВЫКИ</a:t>
            </a:r>
          </a:p>
        </p:txBody>
      </p:sp>
      <p:pic>
        <p:nvPicPr>
          <p:cNvPr id="5124" name="Picture 4" descr="https://avatars.mds.yandex.net/i?id=4abe4e2926b4c60379774ff65004052280337059-4481820-images-thumbs&amp;n=13">
            <a:extLst>
              <a:ext uri="{FF2B5EF4-FFF2-40B4-BE49-F238E27FC236}">
                <a16:creationId xmlns:a16="http://schemas.microsoft.com/office/drawing/2014/main" id="{57CA1393-C671-44CF-9E0C-9CB3463FC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581" y="2682079"/>
            <a:ext cx="3443120" cy="193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146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/>
            <a:fld id="{1519AFA1-E01F-4869-9A2C-AE6B64FF5724}" type="slidenum">
              <a:rPr lang="ru-RU">
                <a:solidFill>
                  <a:prstClr val="white"/>
                </a:solidFill>
              </a:rPr>
              <a:pPr defTabSz="685800"/>
              <a:t>8</a:t>
            </a:fld>
            <a:endParaRPr lang="ru-RU" dirty="0">
              <a:solidFill>
                <a:prstClr val="white"/>
              </a:solidFill>
            </a:endParaRP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9C208089-D6CD-4C90-814B-7EEA531FD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94" y="896952"/>
            <a:ext cx="6071773" cy="3349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7B89386-F90D-4A2F-817B-222F3C11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23" y="110256"/>
            <a:ext cx="6796567" cy="588088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00F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ФУНКЦИИ ВЫСШЕГО ПОРЯДКА</a:t>
            </a:r>
          </a:p>
        </p:txBody>
      </p:sp>
    </p:spTree>
    <p:extLst>
      <p:ext uri="{BB962C8B-B14F-4D97-AF65-F5344CB8AC3E}">
        <p14:creationId xmlns:p14="http://schemas.microsoft.com/office/powerpoint/2010/main" val="2405728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DB846E5-435D-4AE5-8974-FB5B29D05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33" y="822921"/>
            <a:ext cx="6812344" cy="224460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076" name="Picture 4" descr="https://avatars.mds.yandex.net/i?id=351024f95db5b32b477b7e927acec7902d9634d2-7993564-images-thumbs&amp;n=13">
            <a:extLst>
              <a:ext uri="{FF2B5EF4-FFF2-40B4-BE49-F238E27FC236}">
                <a16:creationId xmlns:a16="http://schemas.microsoft.com/office/drawing/2014/main" id="{45EDF028-FA51-45EC-81B3-87CB6BD01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22" y="3316679"/>
            <a:ext cx="1902590" cy="14995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https://avatars.mds.yandex.net/i?id=9c807f7045ccedda5198088c94d531230baa7da0-9065850-images-thumbs&amp;n=13">
            <a:extLst>
              <a:ext uri="{FF2B5EF4-FFF2-40B4-BE49-F238E27FC236}">
                <a16:creationId xmlns:a16="http://schemas.microsoft.com/office/drawing/2014/main" id="{0172BB12-29DB-45B0-9473-1F5D2B55B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596" y="3386726"/>
            <a:ext cx="2649324" cy="14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avatars.mds.yandex.net/i?id=c87ad55079f84d9e15b710209d7bc6fa7b894b75-9858704-images-thumbs&amp;n=13">
            <a:extLst>
              <a:ext uri="{FF2B5EF4-FFF2-40B4-BE49-F238E27FC236}">
                <a16:creationId xmlns:a16="http://schemas.microsoft.com/office/drawing/2014/main" id="{A430D347-1F9C-40F5-8625-D975CCC55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211" y="3334048"/>
            <a:ext cx="2779141" cy="1464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D97F7B4-E0FF-4FA7-8EB9-0BBCBD51E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23" y="110256"/>
            <a:ext cx="6796567" cy="588088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00F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ОО ДИЗАЙН (ПРИНЦИПЫ ДЯДИ БОБА)</a:t>
            </a:r>
          </a:p>
        </p:txBody>
      </p:sp>
    </p:spTree>
    <p:extLst>
      <p:ext uri="{BB962C8B-B14F-4D97-AF65-F5344CB8AC3E}">
        <p14:creationId xmlns:p14="http://schemas.microsoft.com/office/powerpoint/2010/main" val="238443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https://media.proglib.io/wp-uploads/2017/06/%D1%8B%D1%8B%D1%8B%D1%8B%D1%8B%D1%8B%D0%B2%D0%B2%D0%B2%D0%B2.png">
            <a:extLst>
              <a:ext uri="{FF2B5EF4-FFF2-40B4-BE49-F238E27FC236}">
                <a16:creationId xmlns:a16="http://schemas.microsoft.com/office/drawing/2014/main" id="{AB4C879B-BCB6-4BF6-AF88-920B95926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14" y="403137"/>
            <a:ext cx="5615270" cy="239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ttps://avatars.mds.yandex.net/i?id=abb900f4db78f72edf81592d00f6bfc9d7843256-8971534-images-thumbs&amp;n=13">
            <a:extLst>
              <a:ext uri="{FF2B5EF4-FFF2-40B4-BE49-F238E27FC236}">
                <a16:creationId xmlns:a16="http://schemas.microsoft.com/office/drawing/2014/main" id="{316F4430-A147-42C2-B304-DF42634D59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89"/>
          <a:stretch/>
        </p:blipFill>
        <p:spPr bwMode="auto">
          <a:xfrm>
            <a:off x="439411" y="3058401"/>
            <a:ext cx="2785886" cy="1964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https://avatars.mds.yandex.net/i?id=be629c32172c403418f1e9464ac0a2570ba064ae-9051746-images-thumbs&amp;n=13">
            <a:extLst>
              <a:ext uri="{FF2B5EF4-FFF2-40B4-BE49-F238E27FC236}">
                <a16:creationId xmlns:a16="http://schemas.microsoft.com/office/drawing/2014/main" id="{A4119038-12CA-445C-81B7-93855EEBF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768" y="3113970"/>
            <a:ext cx="1853698" cy="18536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https://avatars.mds.yandex.net/i?id=4bb502b539a63d071595f48cee6083b409d6dda5-10695933-images-thumbs&amp;n=13">
            <a:extLst>
              <a:ext uri="{FF2B5EF4-FFF2-40B4-BE49-F238E27FC236}">
                <a16:creationId xmlns:a16="http://schemas.microsoft.com/office/drawing/2014/main" id="{D90435F5-2A4F-4130-B14D-71FE326B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3568" y="3113970"/>
            <a:ext cx="2785886" cy="1857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63103E06-1303-445F-B7B1-69B2A639A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2172" y="860467"/>
            <a:ext cx="2409847" cy="1672460"/>
          </a:xfrm>
        </p:spPr>
        <p:txBody>
          <a:bodyPr>
            <a:normAutofit/>
          </a:bodyPr>
          <a:lstStyle/>
          <a:p>
            <a:r>
              <a:rPr lang="ru-RU" sz="3000" b="1" dirty="0">
                <a:solidFill>
                  <a:srgbClr val="0000F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БАНДА</a:t>
            </a:r>
            <a:br>
              <a:rPr lang="ru-RU" sz="3000" b="1" dirty="0">
                <a:solidFill>
                  <a:srgbClr val="0000F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ru-RU" sz="3000" b="1" dirty="0">
                <a:solidFill>
                  <a:srgbClr val="0000F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ЧЕТЫРЕХ</a:t>
            </a:r>
          </a:p>
        </p:txBody>
      </p:sp>
    </p:spTree>
    <p:extLst>
      <p:ext uri="{BB962C8B-B14F-4D97-AF65-F5344CB8AC3E}">
        <p14:creationId xmlns:p14="http://schemas.microsoft.com/office/powerpoint/2010/main" val="3764478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5C50C77-FCAD-418B-B3A3-8FF571B11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284834"/>
            <a:ext cx="6447501" cy="827823"/>
          </a:xfrm>
        </p:spPr>
        <p:txBody>
          <a:bodyPr>
            <a:normAutofit/>
          </a:bodyPr>
          <a:lstStyle/>
          <a:p>
            <a:r>
              <a:rPr lang="ru-RU" dirty="0"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Учебники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AF3BA1-3208-425F-8BE1-2D57F7D1B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1" y="1172722"/>
            <a:ext cx="7479061" cy="27980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1800" dirty="0">
                <a:latin typeface="Yandex Sans Text Light" panose="02000000000000000000" pitchFamily="2" charset="-52"/>
              </a:rPr>
              <a:t>LLM -&gt; </a:t>
            </a:r>
            <a:r>
              <a:rPr lang="ru-RU" sz="1800" dirty="0">
                <a:latin typeface="Yandex Sans Text Light" panose="02000000000000000000" pitchFamily="2" charset="-52"/>
              </a:rPr>
              <a:t>ИИ-агенты (</a:t>
            </a:r>
            <a:r>
              <a:rPr lang="en-US" sz="1800" dirty="0">
                <a:latin typeface="Yandex Sans Text Light" panose="02000000000000000000" pitchFamily="2" charset="-52"/>
              </a:rPr>
              <a:t>Claude</a:t>
            </a:r>
            <a:r>
              <a:rPr lang="ru-RU" sz="1800" dirty="0">
                <a:latin typeface="Yandex Sans Text Light" panose="02000000000000000000" pitchFamily="2" charset="-52"/>
              </a:rPr>
              <a:t> </a:t>
            </a:r>
            <a:r>
              <a:rPr lang="en-US" sz="1800" dirty="0">
                <a:latin typeface="Yandex Sans Text Light" panose="02000000000000000000" pitchFamily="2" charset="-52"/>
              </a:rPr>
              <a:t>IDE, Cursor AI)</a:t>
            </a:r>
            <a:endParaRPr lang="ru-RU" sz="1800" dirty="0">
              <a:latin typeface="Yandex Sans Text Light" panose="02000000000000000000" pitchFamily="2" charset="-52"/>
            </a:endParaRPr>
          </a:p>
          <a:p>
            <a:pPr marL="342900" indent="-342900">
              <a:buFontTx/>
              <a:buAutoNum type="arabicPeriod"/>
            </a:pPr>
            <a:r>
              <a:rPr lang="ru-RU" sz="1800" dirty="0">
                <a:latin typeface="Yandex Sans Text Light" panose="02000000000000000000" pitchFamily="2" charset="-52"/>
              </a:rPr>
              <a:t>Документация на английском </a:t>
            </a:r>
            <a:r>
              <a:rPr lang="en-US" sz="1800" dirty="0">
                <a:latin typeface="Yandex Sans Text Light" panose="02000000000000000000" pitchFamily="2" charset="-52"/>
                <a:hlinkClick r:id="rId2"/>
              </a:rPr>
              <a:t>https://docs.python.org/3/</a:t>
            </a:r>
            <a:endParaRPr lang="ru-RU" sz="1800" dirty="0">
              <a:latin typeface="Yandex Sans Text Light" panose="02000000000000000000" pitchFamily="2" charset="-52"/>
            </a:endParaRPr>
          </a:p>
          <a:p>
            <a:pPr marL="342900" indent="-342900">
              <a:buFontTx/>
              <a:buAutoNum type="arabicPeriod"/>
            </a:pPr>
            <a:r>
              <a:rPr lang="ru-RU" sz="1800" dirty="0" err="1">
                <a:latin typeface="Yandex Sans Text Light" panose="02000000000000000000" pitchFamily="2" charset="-52"/>
              </a:rPr>
              <a:t>Лутц</a:t>
            </a:r>
            <a:r>
              <a:rPr lang="ru-RU" sz="1800" dirty="0">
                <a:latin typeface="Yandex Sans Text Light" panose="02000000000000000000" pitchFamily="2" charset="-52"/>
              </a:rPr>
              <a:t> Марк </a:t>
            </a:r>
            <a:r>
              <a:rPr lang="en-US" sz="1800" dirty="0">
                <a:latin typeface="Yandex Sans Text Light" panose="02000000000000000000" pitchFamily="2" charset="-52"/>
              </a:rPr>
              <a:t>“</a:t>
            </a:r>
            <a:r>
              <a:rPr lang="ru-RU" sz="1800" dirty="0">
                <a:latin typeface="Yandex Sans Text Light" panose="02000000000000000000" pitchFamily="2" charset="-52"/>
              </a:rPr>
              <a:t>Изучаем </a:t>
            </a:r>
            <a:r>
              <a:rPr lang="en-US" sz="1800" dirty="0">
                <a:latin typeface="Yandex Sans Text Light" panose="02000000000000000000" pitchFamily="2" charset="-52"/>
              </a:rPr>
              <a:t>Python”(</a:t>
            </a:r>
            <a:r>
              <a:rPr lang="ru-RU" sz="1800" dirty="0">
                <a:latin typeface="Yandex Sans Text Light" panose="02000000000000000000" pitchFamily="2" charset="-52"/>
              </a:rPr>
              <a:t>том 2)</a:t>
            </a:r>
          </a:p>
          <a:p>
            <a:pPr marL="342900" indent="-342900">
              <a:buFontTx/>
              <a:buAutoNum type="arabicPeriod"/>
            </a:pPr>
            <a:r>
              <a:rPr lang="ru-RU" sz="1800" dirty="0" err="1">
                <a:latin typeface="Yandex Sans Text Light" panose="02000000000000000000" pitchFamily="2" charset="-52"/>
              </a:rPr>
              <a:t>LeetCode</a:t>
            </a:r>
            <a:r>
              <a:rPr lang="ru-RU" sz="1800" dirty="0">
                <a:latin typeface="Yandex Sans Text Light" panose="02000000000000000000" pitchFamily="2" charset="-52"/>
              </a:rPr>
              <a:t> — сайт с задачами для подготовки к собеседованиям.</a:t>
            </a:r>
          </a:p>
          <a:p>
            <a:pPr marL="342900" indent="-342900">
              <a:buAutoNum type="arabicPeriod"/>
            </a:pPr>
            <a:r>
              <a:rPr lang="ru-RU" sz="1800" dirty="0" err="1">
                <a:latin typeface="Yandex Sans Text Light" panose="02000000000000000000" pitchFamily="2" charset="-52"/>
              </a:rPr>
              <a:t>Метанит</a:t>
            </a:r>
            <a:r>
              <a:rPr lang="ru-RU" sz="1800" dirty="0">
                <a:latin typeface="Yandex Sans Text Light" panose="02000000000000000000" pitchFamily="2" charset="-52"/>
              </a:rPr>
              <a:t>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  <a:hlinkClick r:id="rId3"/>
              </a:rPr>
              <a:t>https://metanit.com/python/</a:t>
            </a:r>
            <a:endParaRPr lang="ru-RU" sz="1800" dirty="0">
              <a:solidFill>
                <a:schemeClr val="accent1">
                  <a:lumMod val="75000"/>
                </a:schemeClr>
              </a:solidFill>
              <a:latin typeface="Yandex Sans Text Light" panose="02000000000000000000" pitchFamily="2" charset="-52"/>
              <a:ea typeface="Open Sans" pitchFamily="2" charset="0"/>
              <a:cs typeface="Open Sans" pitchFamily="2" charset="0"/>
            </a:endParaRPr>
          </a:p>
          <a:p>
            <a:pPr marL="342900" indent="-342900">
              <a:buAutoNum type="arabicPeriod"/>
            </a:pPr>
            <a:r>
              <a:rPr lang="ru-RU" sz="1800" dirty="0" err="1">
                <a:latin typeface="Yandex Sans Text Light" panose="02000000000000000000" pitchFamily="2" charset="-52"/>
              </a:rPr>
              <a:t>Степик</a:t>
            </a:r>
            <a:r>
              <a:rPr lang="en-US" sz="1800" dirty="0">
                <a:latin typeface="Yandex Sans Text Light" panose="02000000000000000000" pitchFamily="2" charset="-52"/>
              </a:rPr>
              <a:t> </a:t>
            </a:r>
            <a:r>
              <a:rPr lang="en-US" sz="1800" dirty="0">
                <a:latin typeface="Yandex Sans Text Light" panose="02000000000000000000" pitchFamily="2" charset="-52"/>
                <a:hlinkClick r:id="rId4"/>
              </a:rPr>
              <a:t>https://stepik.org/</a:t>
            </a:r>
            <a:endParaRPr lang="en-US" sz="1800" dirty="0">
              <a:latin typeface="Yandex Sans Text Light" panose="020000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61881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01570B-C6CA-45CC-A11F-81156A700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746" y="2275759"/>
            <a:ext cx="8296508" cy="425624"/>
          </a:xfrm>
        </p:spPr>
        <p:txBody>
          <a:bodyPr>
            <a:noAutofit/>
          </a:bodyPr>
          <a:lstStyle/>
          <a:p>
            <a:r>
              <a:rPr lang="en-US" sz="3750" dirty="0"/>
              <a:t>https://github.com/nesrv/pt-2.1</a:t>
            </a:r>
            <a:endParaRPr lang="ru-RU" sz="3750" dirty="0"/>
          </a:p>
        </p:txBody>
      </p:sp>
    </p:spTree>
    <p:extLst>
      <p:ext uri="{BB962C8B-B14F-4D97-AF65-F5344CB8AC3E}">
        <p14:creationId xmlns:p14="http://schemas.microsoft.com/office/powerpoint/2010/main" val="859185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1FA8981-A2D9-4616-9140-06BCE3C18F48}"/>
              </a:ext>
            </a:extLst>
          </p:cNvPr>
          <p:cNvSpPr txBox="1">
            <a:spLocks/>
          </p:cNvSpPr>
          <p:nvPr/>
        </p:nvSpPr>
        <p:spPr>
          <a:xfrm>
            <a:off x="318608" y="521892"/>
            <a:ext cx="7562649" cy="56065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Модуль </a:t>
            </a:r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1</a:t>
            </a:r>
            <a:r>
              <a:rPr lang="ru-RU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. Функциональное программирование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5D0025-0DC1-412B-AED6-ADED939D6CC6}"/>
              </a:ext>
            </a:extLst>
          </p:cNvPr>
          <p:cNvSpPr/>
          <p:nvPr/>
        </p:nvSpPr>
        <p:spPr>
          <a:xfrm>
            <a:off x="178713" y="1974898"/>
            <a:ext cx="85967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Функция как объект. Паттерн «Фабрика функций»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Анонимные функции. Сортировка коллекций по ключу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Применение функций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all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any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Функции высшего порядка (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map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filter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reduce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Модуль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itertools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 комбинаторика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Практические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8449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E9782F-2382-4CA8-B3E8-C778C9133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83" y="287595"/>
            <a:ext cx="2715004" cy="112172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CCFAC4-27C9-49F4-AED0-C0673B05F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74" y="1566899"/>
            <a:ext cx="3015083" cy="77877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6271B5-2C16-4883-BE0C-AA49D726F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974" y="2571750"/>
            <a:ext cx="3593808" cy="4001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20ED3D-3F64-42BA-A754-1F82CA22D1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974" y="3248131"/>
            <a:ext cx="4465467" cy="77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45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4F4CD61-736B-4987-8737-E07C8C088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43" y="298035"/>
            <a:ext cx="2386346" cy="113601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FC3877-A552-49F6-A4D5-AF18FBEAA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43" y="1624287"/>
            <a:ext cx="5358560" cy="131463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457B495-6E17-4BA3-A0B7-432C36675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43" y="3213786"/>
            <a:ext cx="6351680" cy="110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383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28F0FA-9693-4EA2-BEED-C60FCADAA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47" y="313972"/>
            <a:ext cx="2743583" cy="112172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1D9899-CCBB-4E2F-B393-E78F39C47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47" y="1617419"/>
            <a:ext cx="5337126" cy="12932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F383393-85AE-4CA0-875F-09E214858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47" y="3253359"/>
            <a:ext cx="6158772" cy="99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5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FFFC0EE-03F7-4D82-B0AB-1B2ACEF67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79" y="676936"/>
            <a:ext cx="2915057" cy="102884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CD9A9B-FDD7-474C-A2A3-2545DA5DD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80" y="1869656"/>
            <a:ext cx="5015612" cy="119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9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C863B28-A1F2-4034-9A35-04CD4646B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98" y="286716"/>
            <a:ext cx="4472612" cy="108600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4AE165-A9A9-4135-B04E-B7B1E20B3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33" y="1688574"/>
            <a:ext cx="6523154" cy="141466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03B20D3-A693-4E87-BD32-FA32186BB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98" y="3484993"/>
            <a:ext cx="6001588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656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3D9F3D-681D-44E9-AA62-0864EB5C3B8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32410" y="248940"/>
            <a:ext cx="5139690" cy="1496040"/>
          </a:xfrm>
        </p:spPr>
        <p:txBody>
          <a:bodyPr/>
          <a:lstStyle/>
          <a:p>
            <a:pPr marL="270" indent="0">
              <a:buNone/>
            </a:pPr>
            <a:r>
              <a:rPr lang="ru-RU" sz="2400" b="1" dirty="0"/>
              <a:t>ОБЪЕКТ ПЕРВОГО КЛАССА </a:t>
            </a:r>
            <a:r>
              <a:rPr lang="ru-RU" sz="1800" b="1" dirty="0"/>
              <a:t>– </a:t>
            </a:r>
          </a:p>
          <a:p>
            <a:pPr marL="270" indent="0">
              <a:buNone/>
            </a:pPr>
            <a:r>
              <a:rPr lang="ru-RU" sz="1800" b="1" dirty="0"/>
              <a:t>сущность, которая может быть динамически создана, уничтожена, передана в функцию, возвращена как значение и обладать всеми правами, которыми обладают другие переменные в языке программирования.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E136B08-73AE-4E75-B42A-100FDD08B74C}"/>
              </a:ext>
            </a:extLst>
          </p:cNvPr>
          <p:cNvSpPr/>
          <p:nvPr/>
        </p:nvSpPr>
        <p:spPr>
          <a:xfrm>
            <a:off x="102870" y="2032238"/>
            <a:ext cx="737997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ru-RU" dirty="0">
                <a:solidFill>
                  <a:srgbClr val="3B4045"/>
                </a:solidFill>
                <a:latin typeface="-apple-system"/>
              </a:rPr>
              <a:t>В зависимости от языка это может означать:</a:t>
            </a:r>
          </a:p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ru-RU" dirty="0">
                <a:solidFill>
                  <a:srgbClr val="3B4045"/>
                </a:solidFill>
                <a:latin typeface="inherit"/>
              </a:rPr>
              <a:t>возможность выражения в виде анонимного литерального значения</a:t>
            </a:r>
          </a:p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ru-RU" dirty="0">
                <a:solidFill>
                  <a:srgbClr val="3B4045"/>
                </a:solidFill>
                <a:latin typeface="inherit"/>
              </a:rPr>
              <a:t>возможность хранения в переменных</a:t>
            </a:r>
          </a:p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ru-RU" dirty="0">
                <a:solidFill>
                  <a:srgbClr val="3B4045"/>
                </a:solidFill>
                <a:latin typeface="inherit"/>
              </a:rPr>
              <a:t>возможность хранения в структурах данных</a:t>
            </a:r>
          </a:p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ru-RU" dirty="0">
                <a:solidFill>
                  <a:srgbClr val="3B4045"/>
                </a:solidFill>
                <a:latin typeface="inherit"/>
              </a:rPr>
              <a:t>имеющие внутреннюю идентификацию (независимо от любого заданного имени)</a:t>
            </a:r>
          </a:p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ru-RU" dirty="0">
                <a:solidFill>
                  <a:srgbClr val="3B4045"/>
                </a:solidFill>
                <a:latin typeface="inherit"/>
              </a:rPr>
              <a:t>сопоставимость по равенству с другими объектами</a:t>
            </a:r>
          </a:p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ru-RU" b="1" dirty="0">
                <a:solidFill>
                  <a:srgbClr val="0000FF"/>
                </a:solidFill>
                <a:latin typeface="inherit"/>
              </a:rPr>
              <a:t>возможность передачи в качестве параметра процедуре / функции</a:t>
            </a:r>
          </a:p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ru-RU" b="1" dirty="0">
                <a:solidFill>
                  <a:srgbClr val="0000FF"/>
                </a:solidFill>
                <a:latin typeface="inherit"/>
              </a:rPr>
              <a:t>возвращается как результат процедуры / функции</a:t>
            </a:r>
          </a:p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ru-RU" dirty="0">
                <a:solidFill>
                  <a:srgbClr val="3B4045"/>
                </a:solidFill>
                <a:latin typeface="inherit"/>
              </a:rPr>
              <a:t>возможность создания во время выполнения</a:t>
            </a:r>
            <a:endParaRPr lang="ru-RU" b="0" i="0" dirty="0">
              <a:solidFill>
                <a:srgbClr val="3B4045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1645944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3D9F3D-681D-44E9-AA62-0864EB5C3B8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32410" y="248940"/>
            <a:ext cx="5139690" cy="673080"/>
          </a:xfrm>
        </p:spPr>
        <p:txBody>
          <a:bodyPr/>
          <a:lstStyle/>
          <a:p>
            <a:pPr marL="270" indent="0">
              <a:buNone/>
            </a:pPr>
            <a:r>
              <a:rPr lang="ru-RU" sz="2400" b="1" dirty="0"/>
              <a:t>ОБЪЕКТ ВТОРОГО КЛАССА </a:t>
            </a:r>
            <a:r>
              <a:rPr lang="ru-RU" sz="1800" b="1" dirty="0"/>
              <a:t>–  </a:t>
            </a:r>
            <a:r>
              <a:rPr lang="en-US" sz="1800" b="1" dirty="0"/>
              <a:t>?</a:t>
            </a:r>
            <a:endParaRPr lang="ru-RU" sz="1800" b="1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F5E2A33-21F0-4F0B-80FC-7BB595250440}"/>
              </a:ext>
            </a:extLst>
          </p:cNvPr>
          <p:cNvSpPr/>
          <p:nvPr/>
        </p:nvSpPr>
        <p:spPr>
          <a:xfrm>
            <a:off x="232410" y="1460599"/>
            <a:ext cx="63627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222222"/>
                </a:solidFill>
                <a:latin typeface="-apple-system"/>
              </a:rPr>
              <a:t>Сущности, которые не являются объектами первого класса, называются объектами второго класса.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37718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5E7528-1409-4F9C-A48B-B94DBBAF719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78980" y="0"/>
            <a:ext cx="5871300" cy="1633200"/>
          </a:xfrm>
        </p:spPr>
        <p:txBody>
          <a:bodyPr/>
          <a:lstStyle/>
          <a:p>
            <a:pPr marL="270" indent="0">
              <a:buNone/>
            </a:pPr>
            <a:r>
              <a:rPr lang="ru-RU" sz="2000" b="1" dirty="0">
                <a:solidFill>
                  <a:srgbClr val="0000FF"/>
                </a:solidFill>
              </a:rPr>
              <a:t>Уровень абстракции — один из способов сокрытия деталей реализации определенного набора функциональных возможностей.</a:t>
            </a:r>
          </a:p>
        </p:txBody>
      </p:sp>
      <p:pic>
        <p:nvPicPr>
          <p:cNvPr id="4" name="Picture 2" descr="Языки сверхвысокого уровня: Python, R, Haskell, Lisp И Др - презентация  онлайн">
            <a:extLst>
              <a:ext uri="{FF2B5EF4-FFF2-40B4-BE49-F238E27FC236}">
                <a16:creationId xmlns:a16="http://schemas.microsoft.com/office/drawing/2014/main" id="{D471EDBD-9B13-465B-A177-DA732C614C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3" r="3097" b="12205"/>
          <a:stretch/>
        </p:blipFill>
        <p:spPr bwMode="auto">
          <a:xfrm>
            <a:off x="710933" y="1499074"/>
            <a:ext cx="5339347" cy="27536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E0878A9-991A-4D7E-977D-E4647F375E08}"/>
              </a:ext>
            </a:extLst>
          </p:cNvPr>
          <p:cNvSpPr/>
          <p:nvPr/>
        </p:nvSpPr>
        <p:spPr>
          <a:xfrm>
            <a:off x="710933" y="4427714"/>
            <a:ext cx="47404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rgbClr val="FF0000"/>
                </a:solidFill>
                <a:latin typeface="Onest"/>
              </a:rPr>
              <a:t>как нужно сделать</a:t>
            </a:r>
            <a:r>
              <a:rPr lang="en-US" sz="2000" b="1" dirty="0">
                <a:solidFill>
                  <a:srgbClr val="FF0000"/>
                </a:solidFill>
                <a:latin typeface="Onest"/>
              </a:rPr>
              <a:t> -&gt; </a:t>
            </a:r>
            <a:r>
              <a:rPr lang="ru-RU" sz="2000" b="1" dirty="0">
                <a:solidFill>
                  <a:srgbClr val="FF0000"/>
                </a:solidFill>
                <a:latin typeface="Onest"/>
              </a:rPr>
              <a:t>что нужно сделать</a:t>
            </a:r>
            <a:r>
              <a:rPr lang="en-US" sz="2000" b="1" dirty="0">
                <a:solidFill>
                  <a:srgbClr val="FF0000"/>
                </a:solidFill>
                <a:latin typeface="Onest"/>
              </a:rPr>
              <a:t> </a:t>
            </a:r>
            <a:endParaRPr lang="ru-RU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74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78263B-B504-4C64-8834-9C8F733C1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0"/>
            <a:ext cx="8928992" cy="620688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00FF"/>
                </a:solidFill>
              </a:rPr>
              <a:t>Действия с функциями</a:t>
            </a:r>
          </a:p>
        </p:txBody>
      </p:sp>
      <p:sp>
        <p:nvSpPr>
          <p:cNvPr id="5" name="Содержимое 2">
            <a:extLst>
              <a:ext uri="{FF2B5EF4-FFF2-40B4-BE49-F238E27FC236}">
                <a16:creationId xmlns:a16="http://schemas.microsoft.com/office/drawing/2014/main" id="{41D08D8F-DE9F-406D-B2E2-04B325EB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42608"/>
            <a:ext cx="9150796" cy="3906356"/>
          </a:xfrm>
        </p:spPr>
        <p:txBody>
          <a:bodyPr>
            <a:normAutofit fontScale="92500" lnSpcReduction="10000"/>
          </a:bodyPr>
          <a:lstStyle/>
          <a:p>
            <a:pPr marL="360000" indent="-360000"/>
            <a:r>
              <a:rPr lang="ru-RU" sz="1600" b="1" dirty="0"/>
              <a:t>Функцию можно</a:t>
            </a:r>
            <a:r>
              <a:rPr lang="en-US" sz="1600" b="1" dirty="0"/>
              <a:t>:</a:t>
            </a:r>
            <a:r>
              <a:rPr lang="ru-RU" sz="1600" b="1" dirty="0"/>
              <a:t> определить, вызвать.</a:t>
            </a:r>
          </a:p>
          <a:p>
            <a:pPr marL="360000" indent="-360000"/>
            <a:r>
              <a:rPr lang="ru-RU" sz="1600" b="1" dirty="0"/>
              <a:t>Блок функции начинается с ключевого слова </a:t>
            </a:r>
            <a:r>
              <a:rPr lang="ru-RU" sz="1600" b="1" i="1" dirty="0" err="1"/>
              <a:t>def</a:t>
            </a:r>
            <a:r>
              <a:rPr lang="ru-RU" sz="1600" b="1" dirty="0"/>
              <a:t>, после которого следуют имя функции и круглые скобки ( </a:t>
            </a:r>
            <a:r>
              <a:rPr lang="ru-RU" sz="1600" b="1" dirty="0">
                <a:solidFill>
                  <a:srgbClr val="FF0000"/>
                </a:solidFill>
              </a:rPr>
              <a:t>()</a:t>
            </a:r>
            <a:r>
              <a:rPr lang="ru-RU" sz="1600" b="1" dirty="0"/>
              <a:t> ).</a:t>
            </a:r>
          </a:p>
          <a:p>
            <a:pPr marL="360000" indent="-360000"/>
            <a:r>
              <a:rPr lang="ru-RU" sz="1600" b="1" dirty="0"/>
              <a:t>Имена функций подчиняются тем же правилам, что и имена переменных</a:t>
            </a:r>
          </a:p>
          <a:p>
            <a:pPr marL="360000" indent="-360000"/>
            <a:r>
              <a:rPr lang="ru-RU" sz="1600" b="1" dirty="0"/>
              <a:t>Аргументы, которые принимает функция, должны находиться внутри скобок.</a:t>
            </a:r>
          </a:p>
          <a:p>
            <a:pPr marL="360000" indent="-360000"/>
            <a:r>
              <a:rPr lang="ru-RU" sz="1600" b="1" dirty="0"/>
              <a:t>Далее идёт двоеточие ( </a:t>
            </a:r>
            <a:r>
              <a:rPr lang="ru-RU" sz="1600" b="1" dirty="0">
                <a:solidFill>
                  <a:srgbClr val="FF0000"/>
                </a:solidFill>
              </a:rPr>
              <a:t>:</a:t>
            </a:r>
            <a:r>
              <a:rPr lang="ru-RU" sz="1600" b="1" dirty="0"/>
              <a:t> ). </a:t>
            </a:r>
          </a:p>
          <a:p>
            <a:pPr marL="360000" indent="-360000"/>
            <a:r>
              <a:rPr lang="ru-RU" sz="1600" b="1" dirty="0"/>
              <a:t>Само тело функции начинается с новой строки с отступом.</a:t>
            </a:r>
          </a:p>
          <a:p>
            <a:pPr marL="360000" indent="-360000"/>
            <a:r>
              <a:rPr lang="ru-RU" sz="1600" b="1" dirty="0"/>
              <a:t>Функции, вычисляющие какое-либо значение, возвращают его с помощью инструкции </a:t>
            </a:r>
            <a:r>
              <a:rPr lang="ru-RU" sz="1600" b="1" i="1" dirty="0" err="1"/>
              <a:t>return</a:t>
            </a:r>
            <a:r>
              <a:rPr lang="ru-RU" sz="1600" b="1" i="1" dirty="0"/>
              <a:t>.</a:t>
            </a:r>
          </a:p>
          <a:p>
            <a:pPr marL="360000" indent="-360000"/>
            <a:r>
              <a:rPr lang="ru-RU" sz="1600" b="1" dirty="0"/>
              <a:t>Функции, известные как </a:t>
            </a:r>
            <a:r>
              <a:rPr lang="ru-RU" sz="1600" b="1" i="1" u="sng" dirty="0"/>
              <a:t>генераторы</a:t>
            </a:r>
            <a:r>
              <a:rPr lang="ru-RU" sz="1600" b="1" i="1" dirty="0"/>
              <a:t>, </a:t>
            </a:r>
            <a:r>
              <a:rPr lang="ru-RU" sz="1600" b="1" dirty="0"/>
              <a:t>для передачи возвращаемого значения могут также использовать инструкцию </a:t>
            </a:r>
            <a:r>
              <a:rPr lang="ru-RU" sz="1600" b="1" i="1" dirty="0" err="1"/>
              <a:t>yield</a:t>
            </a:r>
            <a:r>
              <a:rPr lang="ru-RU" sz="1600" b="1" dirty="0"/>
              <a:t> и сохранять свое состояние так, чтобы работа функции могла быть возобновлена позднее </a:t>
            </a:r>
          </a:p>
        </p:txBody>
      </p:sp>
    </p:spTree>
    <p:extLst>
      <p:ext uri="{BB962C8B-B14F-4D97-AF65-F5344CB8AC3E}">
        <p14:creationId xmlns:p14="http://schemas.microsoft.com/office/powerpoint/2010/main" val="4030291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/>
            <a:fld id="{1519AFA1-E01F-4869-9A2C-AE6B64FF5724}" type="slidenum">
              <a:rPr lang="ru-RU">
                <a:solidFill>
                  <a:prstClr val="white"/>
                </a:solidFill>
              </a:rPr>
              <a:pPr defTabSz="685800"/>
              <a:t>23</a:t>
            </a:fld>
            <a:endParaRPr lang="ru-RU" dirty="0">
              <a:solidFill>
                <a:prstClr val="white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F7B6AA1-2CB3-47D6-A3D3-8FD2BCBEA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700" y="440898"/>
            <a:ext cx="6027506" cy="392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67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/>
            <a:fld id="{1519AFA1-E01F-4869-9A2C-AE6B64FF5724}" type="slidenum">
              <a:rPr lang="ru-RU">
                <a:solidFill>
                  <a:prstClr val="white"/>
                </a:solidFill>
              </a:rPr>
              <a:pPr defTabSz="685800"/>
              <a:t>24</a:t>
            </a:fld>
            <a:endParaRPr lang="ru-RU" dirty="0">
              <a:solidFill>
                <a:prstClr val="white"/>
              </a:solidFill>
            </a:endParaRPr>
          </a:p>
        </p:txBody>
      </p:sp>
      <p:pic>
        <p:nvPicPr>
          <p:cNvPr id="1026" name="Picture 2" descr="Упрости свой JavaScript – используй map, reduce и filter">
            <a:extLst>
              <a:ext uri="{FF2B5EF4-FFF2-40B4-BE49-F238E27FC236}">
                <a16:creationId xmlns:a16="http://schemas.microsoft.com/office/drawing/2014/main" id="{6D55CB7E-0A22-4323-8B6C-CBDDFD77B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194" y="808894"/>
            <a:ext cx="6591395" cy="3295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32493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/>
            <a:fld id="{1519AFA1-E01F-4869-9A2C-AE6B64FF5724}" type="slidenum">
              <a:rPr lang="ru-RU">
                <a:solidFill>
                  <a:prstClr val="white"/>
                </a:solidFill>
              </a:rPr>
              <a:pPr defTabSz="685800"/>
              <a:t>25</a:t>
            </a:fld>
            <a:endParaRPr lang="ru-RU" dirty="0">
              <a:solidFill>
                <a:prstClr val="white"/>
              </a:solidFill>
            </a:endParaRP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0DFAB1FD-E889-4A5E-805C-79807796E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53" y="829761"/>
            <a:ext cx="7860323" cy="2966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094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8343" y="0"/>
            <a:ext cx="6796567" cy="939683"/>
          </a:xfrm>
        </p:spPr>
        <p:txBody>
          <a:bodyPr>
            <a:normAutofit/>
          </a:bodyPr>
          <a:lstStyle/>
          <a:p>
            <a:r>
              <a:rPr lang="ru-RU" sz="3200" b="1" dirty="0" err="1">
                <a:solidFill>
                  <a:srgbClr val="0000FF"/>
                </a:solidFill>
              </a:rPr>
              <a:t>Карринг</a:t>
            </a:r>
            <a:r>
              <a:rPr lang="ru-RU" sz="3200" b="1" dirty="0">
                <a:solidFill>
                  <a:srgbClr val="0000FF"/>
                </a:solidFill>
              </a:rPr>
              <a:t> (</a:t>
            </a:r>
            <a:r>
              <a:rPr lang="en-US" sz="3200" b="1" dirty="0" err="1">
                <a:solidFill>
                  <a:srgbClr val="0000FF"/>
                </a:solidFill>
              </a:rPr>
              <a:t>curring</a:t>
            </a:r>
            <a:r>
              <a:rPr lang="ru-RU" sz="3200" b="1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35374" y="773338"/>
            <a:ext cx="8210658" cy="634971"/>
          </a:xfrm>
        </p:spPr>
        <p:txBody>
          <a:bodyPr>
            <a:normAutofit/>
          </a:bodyPr>
          <a:lstStyle/>
          <a:p>
            <a:r>
              <a:rPr lang="ru-RU" sz="1600" b="1" dirty="0" err="1"/>
              <a:t>Карринг</a:t>
            </a:r>
            <a:r>
              <a:rPr lang="ru-RU" sz="1600" dirty="0"/>
              <a:t> (или </a:t>
            </a:r>
            <a:r>
              <a:rPr lang="ru-RU" sz="1600" dirty="0" err="1"/>
              <a:t>каррирование</a:t>
            </a:r>
            <a:r>
              <a:rPr lang="ru-RU" sz="1600" dirty="0"/>
              <a:t>) </a:t>
            </a:r>
            <a:r>
              <a:rPr lang="en-US" sz="1600" dirty="0"/>
              <a:t>–</a:t>
            </a:r>
            <a:r>
              <a:rPr lang="ru-RU" sz="1600" dirty="0"/>
              <a:t> преобразование функции от многих переменных в функцию, берущую свои аргументы по одному. </a:t>
            </a:r>
            <a:endParaRPr lang="en-US" sz="16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3D86769-4D87-4575-8689-AE7AD158B531}"/>
              </a:ext>
            </a:extLst>
          </p:cNvPr>
          <p:cNvSpPr/>
          <p:nvPr/>
        </p:nvSpPr>
        <p:spPr>
          <a:xfrm>
            <a:off x="335373" y="1526006"/>
            <a:ext cx="7787435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greet_curried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9CDCFE"/>
                </a:solidFill>
                <a:latin typeface="Consolas" panose="020B0609020204030204" pitchFamily="49" charset="0"/>
              </a:rPr>
              <a:t>greeting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DCDCAA"/>
                </a:solidFill>
                <a:latin typeface="Consolas" panose="020B0609020204030204" pitchFamily="49" charset="0"/>
              </a:rPr>
              <a:t>greet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b="1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9CDCFE"/>
                </a:solidFill>
                <a:latin typeface="Consolas" panose="020B0609020204030204" pitchFamily="49" charset="0"/>
              </a:rPr>
              <a:t>greeting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", "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2000" b="1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DCDCAA"/>
                </a:solidFill>
                <a:latin typeface="Consolas" panose="020B0609020204030204" pitchFamily="49" charset="0"/>
              </a:rPr>
              <a:t>greet</a:t>
            </a:r>
            <a:endParaRPr lang="en-US" sz="2000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20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greet_hello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greet_curried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"Hello"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US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ru-RU" sz="2000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каррирование</a:t>
            </a:r>
            <a:endParaRPr lang="ru-RU" sz="2000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20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greet_hello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ru-RU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Игорь"</a:t>
            </a:r>
            <a:r>
              <a:rPr lang="ru-RU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)        </a:t>
            </a:r>
            <a:r>
              <a:rPr lang="ru-RU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en-US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Hello, </a:t>
            </a:r>
            <a:r>
              <a:rPr lang="ru-RU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Игорь </a:t>
            </a:r>
            <a:endParaRPr lang="ru-RU" sz="2000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20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greet_hello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ru-RU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Роман"</a:t>
            </a:r>
            <a:r>
              <a:rPr lang="ru-RU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)    </a:t>
            </a:r>
            <a:r>
              <a:rPr lang="ru-RU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en-US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Hello, </a:t>
            </a:r>
            <a:r>
              <a:rPr lang="ru-RU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Роман</a:t>
            </a:r>
            <a:endParaRPr lang="ru-RU" sz="2000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ru-RU" sz="2000" b="1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ru-RU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# вызов напрямую </a:t>
            </a:r>
            <a:r>
              <a:rPr lang="en-US" sz="2000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greet_curried</a:t>
            </a:r>
            <a:r>
              <a:rPr lang="en-US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:</a:t>
            </a:r>
            <a:endParaRPr lang="en-US" sz="2000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20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greet_curried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"Hi"</a:t>
            </a:r>
            <a:r>
              <a:rPr lang="en-US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)(</a:t>
            </a:r>
            <a:r>
              <a:rPr lang="en-US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ru-RU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Сергей"</a:t>
            </a:r>
            <a:r>
              <a:rPr lang="ru-RU" sz="2000" b="1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ru-RU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en-US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Hi, </a:t>
            </a:r>
            <a:r>
              <a:rPr lang="ru-RU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Сергей </a:t>
            </a:r>
            <a:endParaRPr lang="ru-RU" sz="2000" b="1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96E8557-2C11-4E65-A7DC-4FD9955DF42A}"/>
              </a:ext>
            </a:extLst>
          </p:cNvPr>
          <p:cNvSpPr txBox="1">
            <a:spLocks/>
          </p:cNvSpPr>
          <p:nvPr/>
        </p:nvSpPr>
        <p:spPr>
          <a:xfrm>
            <a:off x="950096" y="2002143"/>
            <a:ext cx="2738120" cy="954341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9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350" dirty="0"/>
              <a:t>Спасибо </a:t>
            </a:r>
          </a:p>
          <a:p>
            <a:r>
              <a:rPr lang="ru-RU" sz="2700" dirty="0"/>
              <a:t>за внимание!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94F517F1-B040-4C23-A1FC-87F348A889F9}"/>
              </a:ext>
            </a:extLst>
          </p:cNvPr>
          <p:cNvSpPr txBox="1">
            <a:spLocks/>
          </p:cNvSpPr>
          <p:nvPr/>
        </p:nvSpPr>
        <p:spPr>
          <a:xfrm>
            <a:off x="950096" y="2907074"/>
            <a:ext cx="2738120" cy="568158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400" b="0" dirty="0"/>
              <a:t>Ваши вопросы…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1D53B5-DE19-479B-83BD-E3D8F3DB2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5140" y="259241"/>
            <a:ext cx="4803326" cy="480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911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shift</Template>
  <TotalTime>977</TotalTime>
  <Words>532</Words>
  <Application>Microsoft Office PowerPoint</Application>
  <PresentationFormat>Экран (16:9)</PresentationFormat>
  <Paragraphs>104</Paragraphs>
  <Slides>27</Slides>
  <Notes>1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27</vt:i4>
      </vt:variant>
    </vt:vector>
  </HeadingPairs>
  <TitlesOfParts>
    <vt:vector size="42" baseType="lpstr">
      <vt:lpstr>-apple-system</vt:lpstr>
      <vt:lpstr>Arial</vt:lpstr>
      <vt:lpstr>Calibri</vt:lpstr>
      <vt:lpstr>Calibri Light</vt:lpstr>
      <vt:lpstr>Consolas</vt:lpstr>
      <vt:lpstr>inherit</vt:lpstr>
      <vt:lpstr>News706 BT</vt:lpstr>
      <vt:lpstr>Onest</vt:lpstr>
      <vt:lpstr>Open Sans</vt:lpstr>
      <vt:lpstr>Segoe UI Light</vt:lpstr>
      <vt:lpstr>Times New Roman</vt:lpstr>
      <vt:lpstr>Wingdings</vt:lpstr>
      <vt:lpstr>Yandex Sans Text Light</vt:lpstr>
      <vt:lpstr>Office Theme</vt:lpstr>
      <vt:lpstr>1_Office Theme</vt:lpstr>
      <vt:lpstr>Презентация PowerPoint</vt:lpstr>
      <vt:lpstr>Презентация PowerPoint</vt:lpstr>
      <vt:lpstr>Организационные  моменты</vt:lpstr>
      <vt:lpstr>Организационные вопросы</vt:lpstr>
      <vt:lpstr>Требуемая подготовка</vt:lpstr>
      <vt:lpstr>Место в линейке курсов</vt:lpstr>
      <vt:lpstr>Принципы ООП</vt:lpstr>
      <vt:lpstr>ФУНКЦИИ ВЫСШЕГО ПОРЯДКА</vt:lpstr>
      <vt:lpstr>ОО ДИЗАЙН (ПРИНЦИПЫ ДЯДИ БОБА)</vt:lpstr>
      <vt:lpstr>БАНДА ЧЕТЫРЕХ</vt:lpstr>
      <vt:lpstr>Учебники</vt:lpstr>
      <vt:lpstr>https://github.com/nesrv/pt-2.1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Действия с функциями</vt:lpstr>
      <vt:lpstr>Презентация PowerPoint</vt:lpstr>
      <vt:lpstr>Презентация PowerPoint</vt:lpstr>
      <vt:lpstr>Презентация PowerPoint</vt:lpstr>
      <vt:lpstr>Карринг (curring)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>User</dc:creator>
  <cp:keywords>docId FE6D1329DBA66969002233C0258430B5</cp:keywords>
  <dc:description/>
  <cp:lastModifiedBy>user</cp:lastModifiedBy>
  <cp:revision>60</cp:revision>
  <dcterms:created xsi:type="dcterms:W3CDTF">2013-01-27T09:14:16Z</dcterms:created>
  <dcterms:modified xsi:type="dcterms:W3CDTF">2026-05-12T04:23:13Z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Экран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10</vt:i4>
  </property>
</Properties>
</file>